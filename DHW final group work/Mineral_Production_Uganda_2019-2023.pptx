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Limestone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942477</c:v>
                </c:pt>
                <c:pt idx="1">
                  <c:v>705081</c:v>
                </c:pt>
                <c:pt idx="2">
                  <c:v>462814</c:v>
                </c:pt>
                <c:pt idx="3">
                  <c:v>557319</c:v>
                </c:pt>
                <c:pt idx="4">
                  <c:v>728739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Pozollana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960363</c:v>
                </c:pt>
                <c:pt idx="1">
                  <c:v>1129801</c:v>
                </c:pt>
                <c:pt idx="2">
                  <c:v>966077</c:v>
                </c:pt>
                <c:pt idx="3">
                  <c:v>490229</c:v>
                </c:pt>
                <c:pt idx="4">
                  <c:v>821474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Limestone</c:v>
                </c:pt>
              </c:strCache>
            </c:strRef>
          </c:tx>
          <c:spPr>
            <a:solidFill>
              <a:srgbClr val="0D7377"/>
            </a:solidFill>
            <a:ln w="38100" cap="flat">
              <a:solidFill>
                <a:srgbClr val="0D73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7377"/>
              </a:solidFill>
              <a:ln w="9525" cap="flat">
                <a:solidFill>
                  <a:srgbClr val="0D73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113097</c:v>
                </c:pt>
                <c:pt idx="1">
                  <c:v>84610</c:v>
                </c:pt>
                <c:pt idx="2">
                  <c:v>55538</c:v>
                </c:pt>
                <c:pt idx="3">
                  <c:v>66717</c:v>
                </c:pt>
                <c:pt idx="4">
                  <c:v>88906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Pozollana</c:v>
                </c:pt>
              </c:strCache>
            </c:strRef>
          </c:tx>
          <c:spPr>
            <a:solidFill>
              <a:srgbClr val="C9A84C"/>
            </a:solidFill>
            <a:ln w="38100" cap="flat">
              <a:solidFill>
                <a:srgbClr val="C9A8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84C"/>
              </a:solidFill>
              <a:ln w="9525" cap="flat">
                <a:solidFill>
                  <a:srgbClr val="C9A8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20168</c:v>
                </c:pt>
                <c:pt idx="1">
                  <c:v>23726</c:v>
                </c:pt>
                <c:pt idx="2">
                  <c:v>20288</c:v>
                </c:pt>
                <c:pt idx="3">
                  <c:v>8571</c:v>
                </c:pt>
                <c:pt idx="4">
                  <c:v>17489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Vermiculite</c:v>
                </c:pt>
              </c:strCache>
            </c:strRef>
          </c:tx>
          <c:spPr>
            <a:solidFill>
              <a:srgbClr val="7C3AED"/>
            </a:solidFill>
            <a:ln w="381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5601</c:v>
                </c:pt>
                <c:pt idx="1">
                  <c:v>8205</c:v>
                </c:pt>
                <c:pt idx="2">
                  <c:v>9170</c:v>
                </c:pt>
                <c:pt idx="3">
                  <c:v>16700</c:v>
                </c:pt>
                <c:pt idx="4">
                  <c:v>22586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Coltan Value</c:v>
                </c:pt>
              </c:strCache>
            </c:strRef>
          </c:tx>
          <c:spPr>
            <a:solidFill>
              <a:srgbClr val="990011"/>
            </a:solidFill>
            <a:ln w="38100" cap="flat">
              <a:solidFill>
                <a:srgbClr val="9900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0011"/>
              </a:solidFill>
              <a:ln w="9525" cap="flat">
                <a:solidFill>
                  <a:srgbClr val="9900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188</c:v>
                </c:pt>
                <c:pt idx="1">
                  <c:v>4906</c:v>
                </c:pt>
                <c:pt idx="2">
                  <c:v>11471</c:v>
                </c:pt>
                <c:pt idx="3">
                  <c:v>1737</c:v>
                </c:pt>
                <c:pt idx="4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Beryllium Value</c:v>
                </c:pt>
              </c:strCache>
            </c:strRef>
          </c:tx>
          <c:spPr>
            <a:solidFill>
              <a:srgbClr val="C9A84C"/>
            </a:solidFill>
            <a:ln w="38100" cap="flat">
              <a:solidFill>
                <a:srgbClr val="C9A8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84C"/>
              </a:solidFill>
              <a:ln w="9525" cap="flat">
                <a:solidFill>
                  <a:srgbClr val="C9A8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131</c:v>
                </c:pt>
                <c:pt idx="1">
                  <c:v>1623</c:v>
                </c:pt>
                <c:pt idx="2">
                  <c:v>4120</c:v>
                </c:pt>
                <c:pt idx="3">
                  <c:v>297</c:v>
                </c:pt>
                <c:pt idx="4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Wolfram Value</c:v>
                </c:pt>
              </c:strCache>
            </c:strRef>
          </c:tx>
          <c:spPr>
            <a:solidFill>
              <a:srgbClr val="0369A1"/>
            </a:solidFill>
            <a:ln w="38100" cap="flat">
              <a:solidFill>
                <a:srgbClr val="0369A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369A1"/>
              </a:solidFill>
              <a:ln w="9525" cap="flat">
                <a:solidFill>
                  <a:srgbClr val="0369A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6052</c:v>
                </c:pt>
                <c:pt idx="1">
                  <c:v>462</c:v>
                </c:pt>
                <c:pt idx="2">
                  <c:v>1374</c:v>
                </c:pt>
                <c:pt idx="3">
                  <c:v>2517</c:v>
                </c:pt>
                <c:pt idx="4">
                  <c:v>1046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(Tonnes)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A84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Kaolin</c:v>
                  </c:pt>
                  <c:pt idx="1">
                    <c:v>Vermiculite</c:v>
                  </c:pt>
                  <c:pt idx="2">
                    <c:v>Iron Ore</c:v>
                  </c:pt>
                  <c:pt idx="3">
                    <c:v>Limestone</c:v>
                  </c:pt>
                  <c:pt idx="4">
                    <c:v>Pozollana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7186</c:v>
                </c:pt>
                <c:pt idx="1">
                  <c:v>21752</c:v>
                </c:pt>
                <c:pt idx="2">
                  <c:v>40999</c:v>
                </c:pt>
                <c:pt idx="3">
                  <c:v>728739</c:v>
                </c:pt>
                <c:pt idx="4">
                  <c:v>821474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822960"/>
            <a:ext cx="2560320" cy="3200400"/>
          </a:xfrm>
          <a:prstGeom prst="ellipse">
            <a:avLst/>
          </a:prstGeom>
          <a:solidFill>
            <a:srgbClr val="0D7377">
              <a:alpha val="20000"/>
            </a:srgbClr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COMPUTING AND INFORMATICS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Comprehensive Analysis of</a:t>
            </a:r>
            <a:endParaRPr lang="en-US" sz="2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Mineral Production</a:t>
            </a:r>
            <a:endParaRPr lang="en-US" sz="2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Economic Value in Uganda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53035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2019 – 2023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Warehousing &amp; Business Intelligence Project  |  Group One  |  Dept. of Computer Science  |  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Energy &amp; Mineral Development (MEMD)  |  Uganda Bureau of Statistics (UBOS)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73152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143000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24128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Problem Statement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325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Uganda's mining sector context and data challenges (2019–2023)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94560"/>
            <a:ext cx="73152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2468880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4128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Data Sources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2651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pipeline, Power BI star schema, and DAX measures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520440"/>
            <a:ext cx="73152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3794760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24128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Non-Metallic Minerals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3977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Limestone &amp; Pozollana – dominant volumes driving construction demand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86868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868680"/>
            <a:ext cx="73152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1143000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04688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Metallic Minerals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04688" y="1325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Coltan, Beryllium, Gold, Wolfram – volatility &amp; the value paradox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19456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194560"/>
            <a:ext cx="73152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19472" y="2468880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04688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Minerals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04688" y="2651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Kaolin (+3,080%) and Iron Ore (+2,143%) explosive growth in 2023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5204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520440"/>
            <a:ext cx="73152" cy="1143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19472" y="3794760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04688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Recommendations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04688" y="3977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policy interventions and BI system expansion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&amp; 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02336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Uganda's mining sector covers metallic minerals (Gold, Coltan, Beryllium, Wolfram) and non-metallic minerals (Limestone, Pozollana, Kaolin, Vermiculite).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annual production quantities (Tonnes) and economic values (UGX '000) is essential for macroeconomic planning and investment targeting.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sourced from MEMD and UBOS for the period 2019–2023.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777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70432"/>
            <a:ext cx="402336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2344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and visualisation of mineral production trends have historically been fragmented, preventing actionable insight into year-over-year growth and economic parity.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2194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Research Questions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606040"/>
            <a:ext cx="4023360" cy="5486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606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How have production volumes and values changed 2019–2023?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3264408"/>
            <a:ext cx="4023360" cy="54864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2644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Which minerals dominate by volume vs. economic value?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922776"/>
            <a:ext cx="4023360" cy="5486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92277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What policy interventions can stabilise metallic mineral volatility?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MEMD Annual Production Data (2024) | UBOS Statistical Abstract (2023)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&amp; 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192024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MEMD &amp; UBOS CSV / Excel files (2019–2023)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94560" y="1737360"/>
            <a:ext cx="22860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77724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777240"/>
            <a:ext cx="192024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14600" y="12984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(Power Query)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17373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handling, unpivoting year columns, type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43400" y="1737360"/>
            <a:ext cx="22860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77724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777240"/>
            <a:ext cx="19202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12984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Model (VertiPaq)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17373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Kimball star schema: FactMineral + 4 dimension tables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92240" y="1737360"/>
            <a:ext cx="22860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0840" y="777240"/>
            <a:ext cx="1920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777240"/>
            <a:ext cx="192024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777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12984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12280" y="17373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 with DAX KPIs &amp; drill-through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Schema — Key Relationships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91840"/>
          <a:ext cx="859536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286000"/>
                <a:gridCol w="219456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FactMineral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DimMineral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Many-to-One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FactMineral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DimMineralType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Many-to-One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FactMineral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Many-to-One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Non-Metallic Minerals — Production Volumes (2019–2023)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777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 Highlights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035040" y="1280160"/>
            <a:ext cx="2834640" cy="1005840"/>
          </a:xfrm>
          <a:prstGeom prst="rect">
            <a:avLst/>
          </a:prstGeom>
          <a:solidFill>
            <a:srgbClr val="F5F0E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0" y="1280160"/>
            <a:ext cx="73152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72200" y="13350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Pozollana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72200" y="16093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821,474 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7220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in 2023 volume  |  +67.57% YoY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35040" y="2450592"/>
            <a:ext cx="2834640" cy="1005840"/>
          </a:xfrm>
          <a:prstGeom prst="rect">
            <a:avLst/>
          </a:prstGeom>
          <a:solidFill>
            <a:srgbClr val="F5F0E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35040" y="2450592"/>
            <a:ext cx="73152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25054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Limestone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72200" y="2779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728,739 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172200" y="3090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in 2023 volume  |  +30.76% YoY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35040" y="3621024"/>
            <a:ext cx="2834640" cy="1005840"/>
          </a:xfrm>
          <a:prstGeom prst="rect">
            <a:avLst/>
          </a:prstGeom>
          <a:solidFill>
            <a:srgbClr val="F5F0E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3621024"/>
            <a:ext cx="73152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2200" y="3675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Vermiculite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72200" y="3950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21,752 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72200" y="42611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growth  |  +22.5% Value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74320" y="44805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Limestone &amp; Pozollana together account for &gt;85% of total production volume, driven by Uganda's sustained public infrastructure investment.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Non-Metallic Minerals — Economic Value (UGX Billions, 2019–2023)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943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914400"/>
            <a:ext cx="2560320" cy="1005840"/>
          </a:xfrm>
          <a:prstGeom prst="rect">
            <a:avLst/>
          </a:prstGeom>
          <a:solidFill>
            <a:srgbClr val="F5F0E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92240" y="987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Limestone Value 2023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492240" y="12618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UGX 88.9B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92240" y="1581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after 2021 trough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0" y="2103120"/>
            <a:ext cx="2560320" cy="1005840"/>
          </a:xfrm>
          <a:prstGeom prst="rect">
            <a:avLst/>
          </a:prstGeom>
          <a:solidFill>
            <a:srgbClr val="F5F0E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2176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Vermiculite Growth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92240" y="24505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UGX 22.6B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92240" y="2770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 from 2022 – highest ever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00800" y="3291840"/>
            <a:ext cx="2560320" cy="1005840"/>
          </a:xfrm>
          <a:prstGeom prst="rect">
            <a:avLst/>
          </a:prstGeom>
          <a:solidFill>
            <a:srgbClr val="F5F0E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92240" y="3364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Pozollana Value 2023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492240" y="36393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UGX 17.5B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92240" y="3959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Rebounded from 2022 low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Metallic Minerals — Volatility &amp; the Value Paradox (2019–2023)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777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 Summary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143000"/>
          <a:ext cx="3108960" cy="201168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9144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 Peak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 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Coltan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11.47B UGX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(halted)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Beryllium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4.12B UGX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(halted)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Wolfram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2.52B UGX (2022)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1.05B UGX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0.62B (2020)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(halted)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E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760720" y="3291840"/>
            <a:ext cx="3108960" cy="7315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852160" y="33375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Coltan &amp; Beryllium fell to zero by 2023 — regulatory disruption or data capture failure (Ssekandi, 2023)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274320" y="41148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tiny tonnage, metallic minerals contribute disproportionate economic value — the 'Volume vs. Value Paradox' (Peterson, 2021)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Emerging Minerals — Explosive Growth in 2023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6517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Kaolin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+3,080%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226 T (2022)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7,186 T (2023)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UGX 3.63B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77724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777240"/>
            <a:ext cx="265176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777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Iron Ore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+2,143%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3756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1,829 T (2022)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3756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40,999 T (2023)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N/A (early stage)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77724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777240"/>
            <a:ext cx="2651760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777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Marble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entry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6364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First recorded 2022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6364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4,532 T (2023)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6364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UGX 682M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8595360" cy="11887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Kaolin: 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3,080% growth suggests significant new extraction activity or improved formal reporting of previously undocumented sites. Value rose to UGX 3.63 Billion.
</a:t>
            </a:r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Ore: </a:t>
            </a:r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from 1,829 T to 40,999 T in one year signals a major new extraction operation commencing or significantly expanding capacity.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Minerals by Production Volume — 2023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777240"/>
          <a:ext cx="2743200" cy="2286000"/>
        </p:xfrm>
        <a:graphic>
          <a:graphicData uri="http://schemas.openxmlformats.org/drawingml/2006/table">
            <a:tbl>
              <a:tblPr/>
              <a:tblGrid>
                <a:gridCol w="365760"/>
                <a:gridCol w="1005840"/>
                <a:gridCol w="1005840"/>
                <a:gridCol w="73152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 Prod (T)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Pozollana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Non-Metallic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821,474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Limestone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Non-Metallic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728,739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 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Metallic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40,999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Vermiculite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Non-Metallic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21,752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Kaolin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Non-Metallic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126480" y="329184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217920" y="3337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217920" y="361188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the Top 5 minerals are Non-Metallic, confirming Uganda's construction-driven demand dominates extractive volumes.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188720"/>
          </a:xfrm>
          <a:prstGeom prst="rect">
            <a:avLst/>
          </a:prstGeom>
          <a:solidFill>
            <a:srgbClr val="1E3A4B"/>
          </a:solidFill>
          <a:ln w="12700">
            <a:solidFill>
              <a:srgbClr val="2D5F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73152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097280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4B"/>
                </a:solidFill>
              </a:rPr>
              <a:t>R1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8503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Data Collection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16128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Digitise mine-level reporting to prevent 'zero-drop' anomalies seen in Coltan &amp; Beryllium (2023). Real-time data flow into BI systems is essential.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4114800" cy="1188720"/>
          </a:xfrm>
          <a:prstGeom prst="rect">
            <a:avLst/>
          </a:prstGeom>
          <a:solidFill>
            <a:srgbClr val="1E3A4B"/>
          </a:solidFill>
          <a:ln w="12700">
            <a:solidFill>
              <a:srgbClr val="2D5F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03120"/>
            <a:ext cx="73152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2423160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4B"/>
                </a:solidFill>
              </a:rPr>
              <a:t>R2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2176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Addition in Industrial Minerals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8716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Incentivise local processing of Limestone and Kaolin into finished goods (cement, ceramics) to capture more domestic value chain.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114800" cy="1188720"/>
          </a:xfrm>
          <a:prstGeom prst="rect">
            <a:avLst/>
          </a:prstGeom>
          <a:solidFill>
            <a:srgbClr val="1E3A4B"/>
          </a:solidFill>
          <a:ln w="12700">
            <a:solidFill>
              <a:srgbClr val="2D5F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29000"/>
            <a:ext cx="73152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3749040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4B"/>
                </a:solidFill>
              </a:rPr>
              <a:t>R3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3502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Metallic Sector Bottlenecks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381304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investigation into Coltan &amp; Beryllium production collapse. Tax incentives or formalised artisanal mining support may revive high-value outputs.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777240"/>
            <a:ext cx="4114800" cy="1188720"/>
          </a:xfrm>
          <a:prstGeom prst="rect">
            <a:avLst/>
          </a:prstGeom>
          <a:solidFill>
            <a:srgbClr val="1E3A4B"/>
          </a:solidFill>
          <a:ln w="12700">
            <a:solidFill>
              <a:srgbClr val="2D5F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777240"/>
            <a:ext cx="73152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1097280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4B"/>
                </a:solidFill>
              </a:rPr>
              <a:t>R4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40680" y="8503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BI System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116128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geographic dimensions and export-vs-domestic ratios to the Power BI dashboard (mineral analysis.pbix) for deeper sectoral monitoring.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103120"/>
            <a:ext cx="4114800" cy="1188720"/>
          </a:xfrm>
          <a:prstGeom prst="rect">
            <a:avLst/>
          </a:prstGeom>
          <a:solidFill>
            <a:srgbClr val="1E3A4B"/>
          </a:solidFill>
          <a:ln w="12700">
            <a:solidFill>
              <a:srgbClr val="2D5F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103120"/>
            <a:ext cx="73152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19472" y="2423160"/>
            <a:ext cx="411480" cy="4114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4B"/>
                </a:solidFill>
              </a:rPr>
              <a:t>R5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40680" y="2176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Monitoring Framework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40680" y="248716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regional framework to understand how transport and logistics costs affect the economic viability of high-value metallic minerals.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713232"/>
          </a:xfrm>
          <a:prstGeom prst="rect">
            <a:avLst/>
          </a:prstGeom>
          <a:solidFill>
            <a:srgbClr val="162D3A"/>
          </a:solidFill>
          <a:ln w="12700">
            <a:solidFill>
              <a:srgbClr val="2D5F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34440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170432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Non-metallic minerals (Limestone &amp; Pozollana) dominate production volumes, driven by Uganda's public infrastructure programme — exceeding 85% of total tonnes extracted.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713232"/>
          </a:xfrm>
          <a:prstGeom prst="rect">
            <a:avLst/>
          </a:prstGeom>
          <a:solidFill>
            <a:srgbClr val="162D3A"/>
          </a:solidFill>
          <a:ln w="12700">
            <a:solidFill>
              <a:srgbClr val="2D5F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03120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039112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'Volume vs. Value Paradox' is clearly visible: metallic minerals (Coltan, Wolfram) generate disproportionate UGX value per tonne despite tiny volumetric footprints.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713232"/>
          </a:xfrm>
          <a:prstGeom prst="rect">
            <a:avLst/>
          </a:prstGeom>
          <a:solidFill>
            <a:srgbClr val="162D3A"/>
          </a:solidFill>
          <a:ln w="12700">
            <a:solidFill>
              <a:srgbClr val="2D5F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971800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907792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minerals (Kaolin +3,080%, Iron Ore +2,143%) signal a diversifying extraction landscape with significant untapped economic potential.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8229600" cy="713232"/>
          </a:xfrm>
          <a:prstGeom prst="rect">
            <a:avLst/>
          </a:prstGeom>
          <a:solidFill>
            <a:srgbClr val="162D3A"/>
          </a:solidFill>
          <a:ln w="12700">
            <a:solidFill>
              <a:srgbClr val="2D5F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840480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776472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digital data capture, local value addition, and targeted policy interventions are critical to sustaining and growing Uganda's mineral sector.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Comprehensive Analysis of Annual Mineral Production and Economic Value in Uganda (2019–2023)</dc:title>
  <dc:subject>PptxGenJS Presentation</dc:subject>
  <dc:creator>PptxGenJS</dc:creator>
  <cp:lastModifiedBy>PptxGenJS</cp:lastModifiedBy>
  <cp:revision>1</cp:revision>
  <dcterms:created xsi:type="dcterms:W3CDTF">2026-05-19T07:01:58Z</dcterms:created>
  <dcterms:modified xsi:type="dcterms:W3CDTF">2026-05-19T07:01:58Z</dcterms:modified>
</cp:coreProperties>
</file>